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1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6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4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4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3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2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598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60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901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62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47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7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636CF-2E63-4CBD-A300-371E98D789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1FC194-5FAC-4A83-809F-662CF0C49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00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77C0-3E57-FB4F-F122-6F9855BF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313" y="1734458"/>
            <a:ext cx="9093201" cy="2272836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Inconsistent Behavior Affect Your Perceptions on Religious Identity?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75DA6-E26B-A2F7-33B6-2F383E0EF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48376"/>
            <a:ext cx="7766936" cy="1096899"/>
          </a:xfrm>
        </p:spPr>
        <p:txBody>
          <a:bodyPr/>
          <a:lstStyle/>
          <a:p>
            <a:r>
              <a:rPr lang="en-US" altLang="zh-CN" dirty="0"/>
              <a:t>Fu Chen</a:t>
            </a:r>
          </a:p>
          <a:p>
            <a:r>
              <a:rPr lang="en-US" dirty="0"/>
              <a:t>122090020</a:t>
            </a:r>
          </a:p>
        </p:txBody>
      </p:sp>
    </p:spTree>
    <p:extLst>
      <p:ext uri="{BB962C8B-B14F-4D97-AF65-F5344CB8AC3E}">
        <p14:creationId xmlns:p14="http://schemas.microsoft.com/office/powerpoint/2010/main" val="27702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C3AB-7D3D-3012-93FC-2A81DB63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Religious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6CE5-DD69-33F9-BB7E-49A95787D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0743"/>
            <a:ext cx="8596668" cy="4270619"/>
          </a:xfrm>
        </p:spPr>
        <p:txBody>
          <a:bodyPr>
            <a:normAutofit/>
          </a:bodyPr>
          <a:lstStyle/>
          <a:p>
            <a:r>
              <a:rPr lang="en-US" sz="2000" dirty="0"/>
              <a:t>What forms religious identity?</a:t>
            </a:r>
          </a:p>
          <a:p>
            <a:pPr lvl="1"/>
            <a:r>
              <a:rPr lang="en-US" sz="1800" dirty="0"/>
              <a:t>Internal belief (sincere faith) </a:t>
            </a:r>
          </a:p>
          <a:p>
            <a:pPr lvl="1"/>
            <a:r>
              <a:rPr lang="en-US" sz="1800" dirty="0"/>
              <a:t>External behavior (following rules/practices) </a:t>
            </a:r>
          </a:p>
          <a:p>
            <a:pPr lvl="1"/>
            <a:r>
              <a:rPr lang="en-US" sz="1800" dirty="0"/>
              <a:t>Moral character (being a good person)</a:t>
            </a:r>
          </a:p>
          <a:p>
            <a:pPr lvl="1"/>
            <a:r>
              <a:rPr lang="en-US" sz="1800" dirty="0"/>
              <a:t>Self-identification (“they say they are religious”)</a:t>
            </a:r>
          </a:p>
          <a:p>
            <a:endParaRPr lang="en-US" sz="2000" dirty="0"/>
          </a:p>
          <a:p>
            <a:r>
              <a:rPr lang="en-US" sz="2000" dirty="0"/>
              <a:t>Mistakes or misbehaviors?</a:t>
            </a:r>
          </a:p>
          <a:p>
            <a:r>
              <a:rPr lang="en-US" sz="2000" dirty="0"/>
              <a:t>Question: How Does </a:t>
            </a:r>
            <a:r>
              <a:rPr lang="en-US" sz="2000" b="1" dirty="0"/>
              <a:t>Inconsistent Behavior </a:t>
            </a:r>
            <a:r>
              <a:rPr lang="en-US" sz="2000" dirty="0"/>
              <a:t>Affect Your Perceptions on Religious Identity?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207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4CA9-8A4E-236F-C599-DFCF806C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DA6B6-E1A4-E243-A126-65B74265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162" y="1683656"/>
            <a:ext cx="9635066" cy="42415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Four Likert Scale (1-5) Questions: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How does Self-identification influence whether you consider someone religious? </a:t>
            </a:r>
            <a:r>
              <a:rPr lang="en-US" sz="1400" dirty="0"/>
              <a:t>(agree - view them as they said / disagree – my judgment counts)</a:t>
            </a:r>
          </a:p>
          <a:p>
            <a:r>
              <a:rPr lang="en-US" dirty="0"/>
              <a:t>2-3. </a:t>
            </a:r>
            <a:r>
              <a:rPr lang="en-US" b="1" dirty="0"/>
              <a:t>Assume a person firmly believes they are religious and identifies strongly with that religion. However, they intentionally violate a rule of the religion.</a:t>
            </a:r>
          </a:p>
          <a:p>
            <a:pPr lvl="1"/>
            <a:r>
              <a:rPr lang="en-US" b="1" dirty="0"/>
              <a:t>(a) If they provide a personal justification (which you might disagree with);</a:t>
            </a:r>
          </a:p>
          <a:p>
            <a:pPr lvl="1"/>
            <a:r>
              <a:rPr lang="en-US" b="1" dirty="0"/>
              <a:t>(b) If they themselves admit it is wrong but continue to follow other religious practices;</a:t>
            </a:r>
          </a:p>
          <a:p>
            <a:pPr marL="0" indent="0">
              <a:buNone/>
            </a:pPr>
            <a:r>
              <a:rPr lang="en-US" b="1" dirty="0"/>
              <a:t>	How would you evaluate this person? </a:t>
            </a:r>
            <a:r>
              <a:rPr lang="en-US" sz="1400" dirty="0"/>
              <a:t>(agree – yes religious, normal / disagree – fake, despicable)</a:t>
            </a:r>
          </a:p>
          <a:p>
            <a:r>
              <a:rPr lang="en-US" dirty="0"/>
              <a:t>4. </a:t>
            </a:r>
            <a:r>
              <a:rPr lang="en-US" b="1" dirty="0"/>
              <a:t>Does inconsistency with religious norms intensify/sharpen your negative evaluation of a person’s misbehavior? </a:t>
            </a:r>
            <a:r>
              <a:rPr lang="en-US" sz="1400" dirty="0"/>
              <a:t>(agree – it is even worse / disagree – normally treated)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9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9ACC-80F6-C16D-3E7E-20A837C7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6370F2F-5ECA-456C-E2D0-AF0954D4A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36781"/>
              </p:ext>
            </p:extLst>
          </p:nvPr>
        </p:nvGraphicFramePr>
        <p:xfrm>
          <a:off x="677862" y="2160588"/>
          <a:ext cx="83327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138">
                  <a:extLst>
                    <a:ext uri="{9D8B030D-6E8A-4147-A177-3AD203B41FA5}">
                      <a16:colId xmlns:a16="http://schemas.microsoft.com/office/drawing/2014/main" val="833319699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113986508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450449517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37426724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4178711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370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2.809524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2.666667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3.095238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2.857143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85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1.030488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1.494434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1.261141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1.352247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1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8410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DB99A6-94A5-C583-0EC4-A5273FDCAAE6}"/>
              </a:ext>
            </a:extLst>
          </p:cNvPr>
          <p:cNvSpPr txBox="1"/>
          <p:nvPr/>
        </p:nvSpPr>
        <p:spPr>
          <a:xfrm>
            <a:off x="677334" y="1682750"/>
            <a:ext cx="7863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responses (from classmates and group chats); Scale: 1-5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CE4B0F-1F00-0E1F-1830-7E3D686DA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187" y="3643948"/>
            <a:ext cx="5219709" cy="31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8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5797-FF25-F218-24D2-5F3CE59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36D4-13FA-1AC0-1525-B9101D68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1BF1-66FE-35B6-4B5E-BB4A21A06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0701"/>
            <a:ext cx="8596668" cy="4250662"/>
          </a:xfrm>
        </p:spPr>
        <p:txBody>
          <a:bodyPr/>
          <a:lstStyle/>
          <a:p>
            <a:r>
              <a:rPr lang="en-US" b="1" dirty="0"/>
              <a:t>Recall Questions 2-3: How would you evaluate this person</a:t>
            </a:r>
          </a:p>
          <a:p>
            <a:pPr lvl="1"/>
            <a:r>
              <a:rPr lang="en-US" b="1" dirty="0"/>
              <a:t>(a) If they provide a personal justification which you disagree with;</a:t>
            </a:r>
          </a:p>
          <a:p>
            <a:pPr lvl="1"/>
            <a:r>
              <a:rPr lang="en-US" b="1" dirty="0"/>
              <a:t>(b) If they themselves admit it is wrong but continue to follow other religious practices;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7E536F-1319-4F66-7DEC-57666AFDA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57447"/>
              </p:ext>
            </p:extLst>
          </p:nvPr>
        </p:nvGraphicFramePr>
        <p:xfrm>
          <a:off x="1172104" y="3232480"/>
          <a:ext cx="4191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1">
                  <a:extLst>
                    <a:ext uri="{9D8B030D-6E8A-4147-A177-3AD203B41FA5}">
                      <a16:colId xmlns:a16="http://schemas.microsoft.com/office/drawing/2014/main" val="226448842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157477295"/>
                    </a:ext>
                  </a:extLst>
                </a:gridCol>
                <a:gridCol w="1543051">
                  <a:extLst>
                    <a:ext uri="{9D8B030D-6E8A-4147-A177-3AD203B41FA5}">
                      <a16:colId xmlns:a16="http://schemas.microsoft.com/office/drawing/2014/main" val="261563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Question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6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2.666667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3.095238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72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6439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3E3FBC-2761-BD96-58D4-06518FE305BE}"/>
              </a:ext>
            </a:extLst>
          </p:cNvPr>
          <p:cNvSpPr txBox="1"/>
          <p:nvPr/>
        </p:nvSpPr>
        <p:spPr>
          <a:xfrm>
            <a:off x="990600" y="4773967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 1: </a:t>
            </a:r>
            <a:r>
              <a:rPr lang="en-US" dirty="0"/>
              <a:t>People </a:t>
            </a:r>
            <a:r>
              <a:rPr lang="en-US" b="1" dirty="0"/>
              <a:t>significantly</a:t>
            </a:r>
            <a:r>
              <a:rPr lang="en-US" dirty="0"/>
              <a:t> think they are different regardless of the same self-identification. (tricky)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F1701-4DB5-CE30-1B1C-D2FA21ABE725}"/>
              </a:ext>
            </a:extLst>
          </p:cNvPr>
          <p:cNvSpPr txBox="1"/>
          <p:nvPr/>
        </p:nvSpPr>
        <p:spPr>
          <a:xfrm>
            <a:off x="5857874" y="3546700"/>
            <a:ext cx="29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(One-sided p-value &lt;0.05)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C1DD-9133-97CF-B0EB-B8611615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A95F-BD36-684E-72F5-C6A8C64D4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0701"/>
            <a:ext cx="8596668" cy="4250662"/>
          </a:xfrm>
        </p:spPr>
        <p:txBody>
          <a:bodyPr/>
          <a:lstStyle/>
          <a:p>
            <a:r>
              <a:rPr lang="en-US" b="1" dirty="0"/>
              <a:t>Recall Questions 1,4:</a:t>
            </a:r>
          </a:p>
          <a:p>
            <a:pPr lvl="1"/>
            <a:r>
              <a:rPr lang="en-US" dirty="0"/>
              <a:t>1. </a:t>
            </a:r>
            <a:r>
              <a:rPr lang="en-US" b="1" dirty="0"/>
              <a:t>How does Self-identification influence whether you consider someone religious? </a:t>
            </a:r>
            <a:r>
              <a:rPr lang="en-US" sz="1200" dirty="0"/>
              <a:t>(agree - view them as they said / disagree – my judgment counts)</a:t>
            </a:r>
          </a:p>
          <a:p>
            <a:pPr lvl="1"/>
            <a:r>
              <a:rPr lang="en-US" b="1" dirty="0"/>
              <a:t>Does inconsistency with religious norms intensify/sharpen your negative evaluation of a person’s misbehavior? </a:t>
            </a:r>
            <a:r>
              <a:rPr lang="en-US" sz="1200" dirty="0"/>
              <a:t>(agree – it is even worse / disagree – normally treated)</a:t>
            </a: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0BE9E8-FF04-6240-AE70-B4A662CD0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995644"/>
              </p:ext>
            </p:extLst>
          </p:nvPr>
        </p:nvGraphicFramePr>
        <p:xfrm>
          <a:off x="1352550" y="3546700"/>
          <a:ext cx="4191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1">
                  <a:extLst>
                    <a:ext uri="{9D8B030D-6E8A-4147-A177-3AD203B41FA5}">
                      <a16:colId xmlns:a16="http://schemas.microsoft.com/office/drawing/2014/main" val="226448842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157477295"/>
                    </a:ext>
                  </a:extLst>
                </a:gridCol>
                <a:gridCol w="1543051">
                  <a:extLst>
                    <a:ext uri="{9D8B030D-6E8A-4147-A177-3AD203B41FA5}">
                      <a16:colId xmlns:a16="http://schemas.microsoft.com/office/drawing/2014/main" val="261563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Question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Question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6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1.030488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1.352247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72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-0.45108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6439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3D4193-69E3-B9FB-6C7C-F54C79D7EB76}"/>
              </a:ext>
            </a:extLst>
          </p:cNvPr>
          <p:cNvSpPr txBox="1"/>
          <p:nvPr/>
        </p:nvSpPr>
        <p:spPr>
          <a:xfrm>
            <a:off x="990599" y="4773967"/>
            <a:ext cx="8334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 2: </a:t>
            </a:r>
            <a:r>
              <a:rPr lang="en-US" dirty="0"/>
              <a:t>The stronger the agreement on self-identification, the less evaluations are influenced by whether they are religious or not. (make sense)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9D53A-DC93-A069-F82C-8267491180F4}"/>
              </a:ext>
            </a:extLst>
          </p:cNvPr>
          <p:cNvSpPr txBox="1"/>
          <p:nvPr/>
        </p:nvSpPr>
        <p:spPr>
          <a:xfrm>
            <a:off x="5900737" y="3852089"/>
            <a:ext cx="328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(Strong negative correlation)</a:t>
            </a:r>
          </a:p>
        </p:txBody>
      </p:sp>
    </p:spTree>
    <p:extLst>
      <p:ext uri="{BB962C8B-B14F-4D97-AF65-F5344CB8AC3E}">
        <p14:creationId xmlns:p14="http://schemas.microsoft.com/office/powerpoint/2010/main" val="3448993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85330-AC0F-6CF7-9093-6FF8208CF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BE9C-E356-F8F6-6C3E-0EFDAE25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6E3A-2B93-7C72-8A01-7E66AC15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162" y="1683656"/>
            <a:ext cx="9163352" cy="4241591"/>
          </a:xfrm>
        </p:spPr>
        <p:txBody>
          <a:bodyPr/>
          <a:lstStyle/>
          <a:p>
            <a:r>
              <a:rPr lang="en-US" sz="2000" dirty="0"/>
              <a:t>In conclusion, attitudes toward violating religious norms vary. Some respect self-identification, while others judge based on personal interpretations. </a:t>
            </a:r>
          </a:p>
          <a:p>
            <a:endParaRPr lang="en-US" sz="2000" dirty="0"/>
          </a:p>
          <a:p>
            <a:r>
              <a:rPr lang="en-US" sz="2000" dirty="0"/>
              <a:t>Most people, however, hold implicit biases about religiosity based on behavior and evaluate others differently depending on their own beliefs.</a:t>
            </a:r>
          </a:p>
          <a:p>
            <a:endParaRPr lang="en-US" sz="2000" dirty="0"/>
          </a:p>
          <a:p>
            <a:r>
              <a:rPr lang="en-US" sz="2000" dirty="0"/>
              <a:t>This suggests that religious identity has a strong sociological dimension: regardless of personal belief or mutual respect, implicit biases and differing judgments persist in society.</a:t>
            </a:r>
          </a:p>
        </p:txBody>
      </p:sp>
    </p:spTree>
    <p:extLst>
      <p:ext uri="{BB962C8B-B14F-4D97-AF65-F5344CB8AC3E}">
        <p14:creationId xmlns:p14="http://schemas.microsoft.com/office/powerpoint/2010/main" val="1459121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3D4E-1E78-CCA2-C023-6AEFB5FC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E5B5-0CBE-E11F-C597-68DBBD8E7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591" y="2008189"/>
            <a:ext cx="10012437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 Usage:</a:t>
            </a:r>
          </a:p>
          <a:p>
            <a:r>
              <a:rPr lang="en-US" dirty="0"/>
              <a:t>ChatGPT 5.2 is applied in rephrasing questions in the questionnaire based on my draft.</a:t>
            </a:r>
          </a:p>
          <a:p>
            <a:r>
              <a:rPr lang="en-US" dirty="0"/>
              <a:t>Codex – Claude 4.6 is applied in code script generation for data collection and analysis.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Claim:</a:t>
            </a:r>
          </a:p>
          <a:p>
            <a:r>
              <a:rPr lang="en-US" dirty="0"/>
              <a:t>AI tools are NOT used in generating source data or presentation slides of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420311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204</TotalTime>
  <Words>564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How Does Inconsistent Behavior Affect Your Perceptions on Religious Identity?</vt:lpstr>
      <vt:lpstr>Religious Identity</vt:lpstr>
      <vt:lpstr>Questionnaire</vt:lpstr>
      <vt:lpstr>Results</vt:lpstr>
      <vt:lpstr>Discussion</vt:lpstr>
      <vt:lpstr>Discussion</vt:lpstr>
      <vt:lpstr>Conclusion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 Chen (SDS, 122090020)</dc:creator>
  <cp:lastModifiedBy>Fu Chen (SDS, 122090020)</cp:lastModifiedBy>
  <cp:revision>4</cp:revision>
  <dcterms:created xsi:type="dcterms:W3CDTF">2026-04-21T08:35:24Z</dcterms:created>
  <dcterms:modified xsi:type="dcterms:W3CDTF">2026-04-22T09:12:33Z</dcterms:modified>
</cp:coreProperties>
</file>